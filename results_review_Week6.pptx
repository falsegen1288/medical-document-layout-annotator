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Faithfulness</c:v>
                </c:pt>
              </c:strCache>
            </c:strRef>
          </c:tx>
          <c:spPr>
            <a:solidFill>
              <a:srgbClr val="237A9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8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qwen3-8b-4bit
bm25_hybrid</c:v>
                  </c:pt>
                  <c:pt idx="1">
                    <c:v>baseline
bm25_only</c:v>
                  </c:pt>
                  <c:pt idx="2">
                    <c:v>bge-m3
bm25_hybrid</c:v>
                  </c:pt>
                  <c:pt idx="3">
                    <c:v>nv-embed-v2
bm25_hybrid</c:v>
                  </c:pt>
                  <c:pt idx="4">
                    <c:v>bge-m3
dense_only</c:v>
                  </c:pt>
                  <c:pt idx="5">
                    <c:v>nomic-embed
bm25_hybrid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0.454</c:v>
                </c:pt>
                <c:pt idx="1">
                  <c:v>0.272</c:v>
                </c:pt>
                <c:pt idx="2">
                  <c:v>0.181</c:v>
                </c:pt>
                <c:pt idx="3">
                  <c:v>0.181</c:v>
                </c:pt>
                <c:pt idx="4">
                  <c:v>0.09</c:v>
                </c:pt>
                <c:pt idx="5">
                  <c:v>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8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1A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 INTERN PROGRESS REPORT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670048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Pipeline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1879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benchmarks  →  hybrid retrieval leaderboard  →  parsing re-evaluation with GLM-OCR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5989320"/>
            <a:ext cx="502920" cy="0"/>
          </a:xfrm>
          <a:prstGeom prst="line">
            <a:avLst/>
          </a:prstGeom>
          <a:noFill/>
          <a:ln w="25400">
            <a:solidFill>
              <a:srgbClr val="237A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1081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 • Document Understanding Track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27048"/>
            <a:ext cx="11277295" cy="1092708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9938"/>
            <a:ext cx="566928" cy="566928"/>
          </a:xfrm>
          <a:prstGeom prst="ellipse">
            <a:avLst/>
          </a:prstGeom>
          <a:solidFill>
            <a:srgbClr val="237A9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8993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9344" y="1636776"/>
            <a:ext cx="97593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 Recap: Embedding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9344" y="1947672"/>
            <a:ext cx="9759391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dense, sparse, multi-vector, and vision-language embedding models registered and benchmarked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02636"/>
            <a:ext cx="11277295" cy="1092708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065526"/>
            <a:ext cx="566928" cy="566928"/>
          </a:xfrm>
          <a:prstGeom prst="ellipse">
            <a:avLst/>
          </a:prstGeom>
          <a:solidFill>
            <a:srgbClr val="1C2F50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06552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9344" y="2912364"/>
            <a:ext cx="97593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5: Hybrid Evaluation Harness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9344" y="3223260"/>
            <a:ext cx="9759391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4-stage retrieval pipeline (BM25 + dense + SPLADE → RRF fusion → LLM judge) and ran it on a 54-pair QA bank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11277295" cy="1092708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341114"/>
            <a:ext cx="566928" cy="566928"/>
          </a:xfrm>
          <a:prstGeom prst="ellipse">
            <a:avLst/>
          </a:prstGeom>
          <a:solidFill>
            <a:srgbClr val="DF6438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34111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9344" y="4187952"/>
            <a:ext cx="97593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6: Revisiting Parsing with GLM-OCR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9344" y="4498848"/>
            <a:ext cx="9759391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 new single-model 0.9B VLM against our locked-in multi-stage parsing pipeline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353812"/>
            <a:ext cx="11277295" cy="1092708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616702"/>
            <a:ext cx="566928" cy="566928"/>
          </a:xfrm>
          <a:prstGeom prst="ellipse">
            <a:avLst/>
          </a:prstGeom>
          <a:solidFill>
            <a:srgbClr val="F1A641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61670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9344" y="5463540"/>
            <a:ext cx="97593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 Plan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9344" y="5774436"/>
            <a:ext cx="9759391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CER/TEDS for GLM-OCR, hallucination mitigation, and the remaining embedding-model candidates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RECAP — EMBEDDING MODEL REGISTRY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models, four representation types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backends pinned to commit SHAs in models.yaml and benchmarked on the same 54-pair ground-truth QA bank.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18233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55064"/>
            <a:ext cx="310896" cy="310896"/>
          </a:xfrm>
          <a:prstGeom prst="ellipse">
            <a:avLst/>
          </a:prstGeom>
          <a:solidFill>
            <a:srgbClr val="F1A6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2704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locked — 9 models spanning dense, sparse, multi-vector, and vision-language embeddings, evaluated under one harness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3545738" cy="4078224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2587752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2880360"/>
            <a:ext cx="3033674" cy="512064"/>
          </a:xfrm>
          <a:prstGeom prst="roundRect">
            <a:avLst>
              <a:gd name="adj" fmla="val 50000"/>
            </a:avLst>
          </a:prstGeom>
          <a:solidFill>
            <a:srgbClr val="237A9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880360"/>
            <a:ext cx="30336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qwen3-embedding-8b (4-bit)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3538728"/>
            <a:ext cx="30336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A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 BACKEND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3794760"/>
            <a:ext cx="303367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— top Spec Hit Rate (1.00) and top Faithfulness (0.454) when hybridized with BM25.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2978" y="2368296"/>
            <a:ext cx="3545738" cy="4078224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9010" y="2587752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LEXICAL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9010" y="2880360"/>
            <a:ext cx="3033674" cy="512064"/>
          </a:xfrm>
          <a:prstGeom prst="roundRect">
            <a:avLst>
              <a:gd name="adj" fmla="val 50000"/>
            </a:avLst>
          </a:prstGeom>
          <a:solidFill>
            <a:srgbClr val="DF643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9010" y="2880360"/>
            <a:ext cx="30336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(custom tokenizer)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9010" y="3538728"/>
            <a:ext cx="30336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A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 BACKEND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9010" y="3794760"/>
            <a:ext cx="303367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regex tokenizer preserves full alphanumeric part numbers (e.g. 352952) — the backbone of every hybrid win.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8757" y="2368296"/>
            <a:ext cx="3545738" cy="4078224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44789" y="2587752"/>
            <a:ext cx="30336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44789" y="2880360"/>
            <a:ext cx="3033674" cy="512064"/>
          </a:xfrm>
          <a:prstGeom prst="roundRect">
            <a:avLst>
              <a:gd name="adj" fmla="val 50000"/>
            </a:avLst>
          </a:prstGeom>
          <a:solidFill>
            <a:srgbClr val="1C2F50"/>
          </a:solidFill>
          <a:ln/>
        </p:spPr>
      </p:sp>
      <p:sp>
        <p:nvSpPr>
          <p:cNvPr id="25" name="Text 23"/>
          <p:cNvSpPr/>
          <p:nvPr/>
        </p:nvSpPr>
        <p:spPr>
          <a:xfrm>
            <a:off x="8444789" y="2880360"/>
            <a:ext cx="30336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bge-m3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44789" y="3538728"/>
            <a:ext cx="30336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A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 BACKEND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44789" y="3794760"/>
            <a:ext cx="303367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model producing dense + sparse + ColBERT vectors simultaneously — broadest single-model coverage.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EVALUATION HARNESS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documents to a leaderboard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run_leaderboard.py — four stages, fused with Reciprocal Rank Fusion (k=60)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24764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66228" y="2075688"/>
            <a:ext cx="658368" cy="658368"/>
          </a:xfrm>
          <a:prstGeom prst="ellipse">
            <a:avLst/>
          </a:prstGeom>
          <a:solidFill>
            <a:srgbClr val="237A98"/>
          </a:solidFill>
          <a:ln/>
        </p:spPr>
      </p:sp>
      <p:sp>
        <p:nvSpPr>
          <p:cNvPr id="8" name="Text 6"/>
          <p:cNvSpPr/>
          <p:nvPr/>
        </p:nvSpPr>
        <p:spPr>
          <a:xfrm>
            <a:off x="1366228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 Prep &amp; Chunking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76656" y="3374136"/>
            <a:ext cx="203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parsed into linked_chunks.jsonl, preserving text–figure/table associations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93362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90824" y="1801368"/>
            <a:ext cx="24764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9852" y="2075688"/>
            <a:ext cx="658368" cy="658368"/>
          </a:xfrm>
          <a:prstGeom prst="ellipse">
            <a:avLst/>
          </a:prstGeom>
          <a:solidFill>
            <a:srgbClr val="1C2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299852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73704" y="28803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Indexing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10280" y="3374136"/>
            <a:ext cx="203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+ dense (SentenceTransformers) + SPLADE neural-sparse indexers, built in parallel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86724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324448" y="1801368"/>
            <a:ext cx="24764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33476" y="2075688"/>
            <a:ext cx="658368" cy="658368"/>
          </a:xfrm>
          <a:prstGeom prst="ellipse">
            <a:avLst/>
          </a:prstGeom>
          <a:solidFill>
            <a:srgbClr val="DF6438"/>
          </a:solidFill>
          <a:ln/>
        </p:spPr>
      </p:sp>
      <p:sp>
        <p:nvSpPr>
          <p:cNvPr id="20" name="Text 18"/>
          <p:cNvSpPr/>
          <p:nvPr/>
        </p:nvSpPr>
        <p:spPr>
          <a:xfrm>
            <a:off x="7233476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07328" y="28803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 Fusion &amp; Eval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43904" y="3374136"/>
            <a:ext cx="203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lists fused via RRF (k=60); scored with HitRate@K and MRR@K against the QA bank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800871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258071" y="1801368"/>
            <a:ext cx="24764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67099" y="2075688"/>
            <a:ext cx="658368" cy="658368"/>
          </a:xfrm>
          <a:prstGeom prst="ellipse">
            <a:avLst/>
          </a:prstGeom>
          <a:solidFill>
            <a:srgbClr val="F1A64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7099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40951" y="28803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Judge &amp; Leaderboard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477527" y="3374136"/>
            <a:ext cx="203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qwen3-32b scores Ragas + DeepEval faithfulness, independent of the answer generator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57200" y="4453128"/>
            <a:ext cx="357621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45312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cache: 7 min → 20 ms on repeat lookups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07738" y="4453128"/>
            <a:ext cx="357621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72330" y="445312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 truncation capped at 4,800 tokens/context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58277" y="4453128"/>
            <a:ext cx="357621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2869" y="445312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DB avoids re-running Groq generations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BENCHMARK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model / strategy combinations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across all 54 Q&amp;A pairs — Spec Hit Rate, Overall Hit Rate, and downstream generator Faithfulness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27048"/>
          <a:ext cx="11277295" cy="4160520"/>
        </p:xfrm>
        <a:graphic>
          <a:graphicData uri="http://schemas.openxmlformats.org/drawingml/2006/table">
            <a:tbl>
              <a:tblPr/>
              <a:tblGrid>
                <a:gridCol w="685800"/>
                <a:gridCol w="3246120"/>
                <a:gridCol w="3246120"/>
                <a:gridCol w="1463040"/>
                <a:gridCol w="146304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Hit@5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Hit@5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qwen3-embedding-8b-4bit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bm25_hybrid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bm25_only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bm25_hybrid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nv-embed-v2-fp16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bm25_hybrid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nomic-embed-text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bm25_hybrid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dense_sparse_colbert_hybrid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granite-vision-embedding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text_only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F6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qwen3-embedding-8b-4bit + bm25_hybrid ranks #1 on Faithfulness (0.454) — exact-match lexical context prevents the generator from hallucinating spec values.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BENCHMARK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 by model / strategy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RAG-generator faithfulness (Ragas), for the six models with a perfect Spec Hit Rate@5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27048"/>
          <a:ext cx="73609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1527048"/>
            <a:ext cx="3596335" cy="42519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66760" y="1755648"/>
            <a:ext cx="3139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66760" y="2093976"/>
            <a:ext cx="31391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arms hit a perfect 1.00 Spec Hit Rate@5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is where they separate — hybrid BM25 arms dominate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scores 0.000 despite perfect retrieval — a generation-side gap, not a retrieval one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lexical context is the strongest predictor of faithful answers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ENGINEERING INFERENCES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benchmark tells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27048"/>
            <a:ext cx="5455768" cy="2299716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4650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1A64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46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hit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76856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BM25 wins on spec codes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2734056"/>
            <a:ext cx="4907128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tokenizers fragment part/model numbers (e.g. 352952). A regex tokenizer preserving full alphanumeric strings hits 100% Hit Rate@5 on spec lookups.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527048"/>
            <a:ext cx="5455768" cy="2299716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3048" y="174650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37A98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1746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k=60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3048" y="2276856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fusion is essential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53048" y="2734056"/>
            <a:ext cx="4907128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pure dense nor pure sparse retrieval covers every query type. RRF-fused hybrid retrieval gives the best accuracy and resilience across mixed workloads.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146804"/>
            <a:ext cx="5455768" cy="2299716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3662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DF643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662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0.454 best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896612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context → higher faithfulness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31520" y="5353812"/>
            <a:ext cx="4907128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LLM faithfulness rises when exact-match lexical snippets sit in the context window, preventing the generator from hallucinating spec values.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4146804"/>
            <a:ext cx="5455768" cy="2299716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3048" y="43662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2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553048" y="43662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coverage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53048" y="4896612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Dense, sparse &amp; ColBERT are complementary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53048" y="5353812"/>
            <a:ext cx="4907128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models excel at abstract synthesis; sparse/multi-vector excel at token-level precision. bge-m3 combines all three for full coverage.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REVISITING PARSING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GLM-OCR: a single-model contender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zai-org/GLM-OCR (Zhipu AI) — a compact vision-language model that reads pixels and writes structured Markdown directly, no separate stages.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354573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7452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37A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64261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990088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an 885M-param layout model alone in the old 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1618488"/>
            <a:ext cx="354573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5858" y="187452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F6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05858" y="264261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OMNIDOCBENCH V1.5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7298" y="2990088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on the public leaderboard at release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8757" y="1618488"/>
            <a:ext cx="354573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1637" y="187452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A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model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71637" y="2642616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4–5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63077" y="2990088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+ OCR + table + caption + cleanup stages, unified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24528"/>
            <a:ext cx="11277295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407408"/>
            <a:ext cx="536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PIPELINE — 4–5 CHAINED MODELS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4700016"/>
            <a:ext cx="536432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DocLayoutYOLO  →  EasyOCR / Tesseract  →  Docling + TableFormer/TATR  →  Qwen2.5VL-3B captioning  →  LLM cleanup pass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95848" y="4389120"/>
            <a:ext cx="0" cy="1892808"/>
          </a:xfrm>
          <a:prstGeom prst="line">
            <a:avLst/>
          </a:prstGeom>
          <a:noFill/>
          <a:ln w="15875">
            <a:solidFill>
              <a:srgbClr val="E3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0168" y="4407408"/>
            <a:ext cx="536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GLM-OCR — ONE UNIFIED VLM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70168" y="4700016"/>
            <a:ext cx="536432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encoder + causal LM with Multi-Token Prediction — outputs structured Markdown (tables, headers, layout) directly from page pixels.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GLM-OCR BENCHMARK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OCR: page-level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GPU inference, cuda:0, GTX 1650, 4-bit quantized — scored end-to-end on full, un-cropped 300 DPI pages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27048"/>
          <a:ext cx="11277295" cy="251460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1737360"/>
                <a:gridCol w="1673352"/>
                <a:gridCol w="1673352"/>
                <a:gridCol w="1529791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Chars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Chars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(Cover)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105.6s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(Diagnostics Catalog)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148.9s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(Ordering &amp; Contact)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134.3s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Average (1, 2, 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129.6s /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0624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F6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Page 3 — GLM-OCR entered a repetition loop, generating 3,831 chars of table content vs. 1,076 GT chars (≈ 3.5× repeat). See Slide 11.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4608576"/>
            <a:ext cx="11277295" cy="822960"/>
          </a:xfrm>
          <a:prstGeom prst="roundRect">
            <a:avLst>
              <a:gd name="adj" fmla="val 8889"/>
            </a:avLst>
          </a:prstGeom>
          <a:solidFill>
            <a:srgbClr val="18233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718304"/>
            <a:ext cx="107286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apples-to-apples yet: baseline EasyOCR CER (0.1078) was scored on 64 pre-cropped element bounding boxes. GLM-OCR CER (0.4894) is end-to-end on full uncropped pages — it also absorbs line-ordering, header/footer, and Markdown-formatting differences the cropped baseline never sees.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GLM-OCR BENCHMARK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extraction: GLM-OCR takes the lead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GLM-OCR's official “Table Recognition:” task prompt, which activates its structured HTML decoder head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27048"/>
          <a:ext cx="11277295" cy="2514600"/>
        </p:xfrm>
        <a:graphic>
          <a:graphicData uri="http://schemas.openxmlformats.org/drawingml/2006/table">
            <a:tbl>
              <a:tblPr/>
              <a:tblGrid>
                <a:gridCol w="4507992"/>
                <a:gridCol w="2255825"/>
                <a:gridCol w="2255825"/>
                <a:gridCol w="225765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TEDS (Structure)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Docling (TableFormer)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TATR (Table Transformer)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 +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GLM-OCR (official prompt)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97680"/>
            <a:ext cx="54786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" y="44256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7A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286000" y="4443984"/>
            <a:ext cx="3375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e0043  —  Page 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0" y="4736592"/>
            <a:ext cx="337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Monitor Feature Comparison (14×4)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55868" y="4297680"/>
            <a:ext cx="54786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11900" y="44256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7A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084668" y="4443984"/>
            <a:ext cx="3375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e0074  —  Page 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84668" y="4736592"/>
            <a:ext cx="337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ServicePlus Plans (4×3)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5376672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18233F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5376672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GLM-OCR beats every baseline table specialist — 0.9996 TEDS vs. 0.9816 (EasyOCR+Structure), 0.7444 (TATR), 0.7295 (Docling).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GLM-OCR BENCHMARK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recommendation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page-level CER and prompted-TEDS results change about our read on GLM-OCR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3545738" cy="4206240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237A98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386584"/>
            <a:ext cx="30336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Unlocks Structure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916936"/>
            <a:ext cx="303367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Full-page parsing with no task prompt yields plain, unformatted text. The official “Table Recognition:” prompt activates a specialized decoder head that emits clean &lt;table&gt; HTML with 100% cell accuracy.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2978" y="1527048"/>
            <a:ext cx="3545738" cy="4206240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9010" y="1764792"/>
            <a:ext cx="457200" cy="457200"/>
          </a:xfrm>
          <a:prstGeom prst="ellipse">
            <a:avLst/>
          </a:prstGeom>
          <a:solidFill>
            <a:srgbClr val="DF643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901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9010" y="2386584"/>
            <a:ext cx="30336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 Loop on Dense Pages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9010" y="2916936"/>
            <a:ext cx="303367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3’s dense table triggered a token-repetition loop — 3× the ground-truth length. Needs standard generation stop-criteria / max-new-tokens limits before it’s production-safe.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88757" y="1527048"/>
            <a:ext cx="3545738" cy="4206240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44789" y="1764792"/>
            <a:ext cx="457200" cy="457200"/>
          </a:xfrm>
          <a:prstGeom prst="ellipse">
            <a:avLst/>
          </a:prstGeom>
          <a:solidFill>
            <a:srgbClr val="1C2F50"/>
          </a:solidFill>
          <a:ln/>
        </p:spPr>
      </p:sp>
      <p:sp>
        <p:nvSpPr>
          <p:cNvPr id="18" name="Text 16"/>
          <p:cNvSpPr/>
          <p:nvPr/>
        </p:nvSpPr>
        <p:spPr>
          <a:xfrm>
            <a:off x="8444789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44789" y="2386584"/>
            <a:ext cx="30336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Methodology Still Diverges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44789" y="2916936"/>
            <a:ext cx="303367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CER is scored on 64 cropped element boxes; GLM-OCR CER is scored end-to-end on full pages. The two numbers aren’t directly comparable until we run both under one protocol.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961888"/>
            <a:ext cx="11277295" cy="713232"/>
          </a:xfrm>
          <a:prstGeom prst="roundRect">
            <a:avLst>
              <a:gd name="adj" fmla="val 10256"/>
            </a:avLst>
          </a:prstGeom>
          <a:solidFill>
            <a:srgbClr val="18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6053328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GLM-OCR’s single 0.9B model already beats every specialized table extractor (0.9996 TEDS) and stays #1 on OmniDocBench (94.62). Next, hold Unlimited OCR to the same protocol before picking a production parser.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Unlimited OCR into the comparison, then re-run the harness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protocol, one more model — then the winning parser feeds directly into the Week 5 retrieval pipeline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579294" cy="4873752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95387" y="1847088"/>
            <a:ext cx="502920" cy="502920"/>
          </a:xfrm>
          <a:prstGeom prst="ellipse">
            <a:avLst/>
          </a:prstGeom>
          <a:solidFill>
            <a:srgbClr val="237A98"/>
          </a:solidFill>
          <a:ln/>
        </p:spPr>
      </p:sp>
      <p:sp>
        <p:nvSpPr>
          <p:cNvPr id="8" name="Text 6"/>
          <p:cNvSpPr/>
          <p:nvPr/>
        </p:nvSpPr>
        <p:spPr>
          <a:xfrm>
            <a:off x="1495387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53288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Unlimited OCR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3172968"/>
            <a:ext cx="217695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page-level CER/WER + official-prompt TEDS protocol on Unlimited OCR for a fair three-way comparison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6534" y="1572768"/>
            <a:ext cx="2579294" cy="4873752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4721" y="1847088"/>
            <a:ext cx="502920" cy="502920"/>
          </a:xfrm>
          <a:prstGeom prst="ellipse">
            <a:avLst/>
          </a:prstGeom>
          <a:solidFill>
            <a:srgbClr val="DF6438"/>
          </a:solidFill>
          <a:ln/>
        </p:spPr>
      </p:sp>
      <p:sp>
        <p:nvSpPr>
          <p:cNvPr id="13" name="Text 11"/>
          <p:cNvSpPr/>
          <p:nvPr/>
        </p:nvSpPr>
        <p:spPr>
          <a:xfrm>
            <a:off x="4394721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7702" y="253288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repetition loop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57702" y="3172968"/>
            <a:ext cx="217695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generation stop-criteria / max-new-tokens limits to GLM-OCR before it touches dense, table-heavy pages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5868" y="1572768"/>
            <a:ext cx="2579294" cy="4873752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4055" y="1847088"/>
            <a:ext cx="502920" cy="502920"/>
          </a:xfrm>
          <a:prstGeom prst="ellipse">
            <a:avLst/>
          </a:prstGeom>
          <a:solidFill>
            <a:srgbClr val="1C2F50"/>
          </a:solidFill>
          <a:ln/>
        </p:spPr>
      </p:sp>
      <p:sp>
        <p:nvSpPr>
          <p:cNvPr id="18" name="Text 16"/>
          <p:cNvSpPr/>
          <p:nvPr/>
        </p:nvSpPr>
        <p:spPr>
          <a:xfrm>
            <a:off x="7294055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7036" y="253288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the baseline in the harness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57036" y="3172968"/>
            <a:ext cx="217695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Week 5 retrieval pipeline with GLM-OCR and Unlimited OCR replacing DocLayoutYOLO + EasyOCR + Docling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55201" y="1572768"/>
            <a:ext cx="2579294" cy="4873752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F5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93388" y="1847088"/>
            <a:ext cx="502920" cy="502920"/>
          </a:xfrm>
          <a:prstGeom prst="ellipse">
            <a:avLst/>
          </a:prstGeom>
          <a:solidFill>
            <a:srgbClr val="F1A641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3388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56369" y="2532888"/>
            <a:ext cx="2176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end-to-end faithfulness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356369" y="3172968"/>
            <a:ext cx="217695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better parsing accuracy actually lifts RAG faithfulness downstream, not just parsing-stage metrics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6060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1A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794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check-in: Week 7 — Unlimited OCR benchmark, and a full harness re-run with GLM-OCR + Unlimited OCR replacing the baseline parser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2026-07-29T13:46:27Z</dcterms:created>
  <dcterms:modified xsi:type="dcterms:W3CDTF">2026-07-29T13:46:27Z</dcterms:modified>
</cp:coreProperties>
</file>